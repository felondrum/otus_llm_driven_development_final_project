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5"/>
    <p:sldMasterId id="2147483680" r:id="rId6"/>
    <p:sldMasterId id="214748368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</p:sldIdLst>
  <p:sldSz cy="5143500" cx="9144000"/>
  <p:notesSz cx="6858000" cy="9144000"/>
  <p:embeddedFontLst>
    <p:embeddedFont>
      <p:font typeface="Roboto"/>
      <p:regular r:id="rId52"/>
      <p:bold r:id="rId53"/>
      <p:italic r:id="rId54"/>
      <p:boldItalic r:id="rId55"/>
    </p:embeddedFont>
    <p:embeddedFont>
      <p:font typeface="Roboto Medium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682BEC-1846-4AA4-A0AE-220490031B1B}">
  <a:tblStyle styleId="{C0682BEC-1846-4AA4-A0AE-220490031B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33"/>
        <p:guide pos="397"/>
        <p:guide pos="3240" orient="horz"/>
        <p:guide orient="horz"/>
        <p:guide pos="51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font" Target="fonts/Roboto-bold.fntdata"/><Relationship Id="rId52" Type="http://schemas.openxmlformats.org/officeDocument/2006/relationships/font" Target="fonts/Roboto-regular.fntdata"/><Relationship Id="rId11" Type="http://schemas.openxmlformats.org/officeDocument/2006/relationships/slide" Target="slides/slide3.xml"/><Relationship Id="rId55" Type="http://schemas.openxmlformats.org/officeDocument/2006/relationships/font" Target="fonts/Roboto-boldItalic.fntdata"/><Relationship Id="rId10" Type="http://schemas.openxmlformats.org/officeDocument/2006/relationships/slide" Target="slides/slide2.xml"/><Relationship Id="rId54" Type="http://schemas.openxmlformats.org/officeDocument/2006/relationships/font" Target="fonts/Roboto-italic.fntdata"/><Relationship Id="rId13" Type="http://schemas.openxmlformats.org/officeDocument/2006/relationships/slide" Target="slides/slide5.xml"/><Relationship Id="rId57" Type="http://schemas.openxmlformats.org/officeDocument/2006/relationships/font" Target="fonts/RobotoMedium-bold.fntdata"/><Relationship Id="rId12" Type="http://schemas.openxmlformats.org/officeDocument/2006/relationships/slide" Target="slides/slide4.xml"/><Relationship Id="rId56" Type="http://schemas.openxmlformats.org/officeDocument/2006/relationships/font" Target="fonts/RobotoMedium-regular.fntdata"/><Relationship Id="rId15" Type="http://schemas.openxmlformats.org/officeDocument/2006/relationships/slide" Target="slides/slide7.xml"/><Relationship Id="rId59" Type="http://schemas.openxmlformats.org/officeDocument/2006/relationships/font" Target="fonts/RobotoMedium-boldItalic.fntdata"/><Relationship Id="rId14" Type="http://schemas.openxmlformats.org/officeDocument/2006/relationships/slide" Target="slides/slide6.xml"/><Relationship Id="rId58" Type="http://schemas.openxmlformats.org/officeDocument/2006/relationships/font" Target="fonts/RobotoMedium-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0f7d84ce1d_0_44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0f7d84ce1d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0f7d84ce1d_0_45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0f7d84ce1d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0f7d84ce1d_0_45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0f7d84ce1d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3ce85d903d_0_7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3ce85d903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3ce85d903d_0_14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3ce85d903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0f7d84ce1d_0_218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0f7d84ce1d_0_2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3ce85d903d_0_20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3ce85d903d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3ce85d903d_0_20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3ce85d903d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3ce85d903d_0_21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3ce85d903d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ce85d903d_0_22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ce85d903d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3ce85d903d_0_41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3ce85d903d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3ce85d903d_0_42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3ce85d903d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3ce85d903d_0_55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3ce85d903d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3ce85d903d_0_55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3ce85d903d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3ce85d903d_0_56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3ce85d903d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3ce85d903d_0_57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3ce85d903d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3ce85d903d_0_58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3ce85d903d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ce85d903d_0_59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3ce85d903d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3ce85d903d_0_60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3ce85d903d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3ce85d903d_0_6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3ce85d903d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3ce85d903d_0_64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3ce85d903d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3ce85d903d_0_65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3ce85d903d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3ce85d903d_0_66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3ce85d903d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3ce85d903d_0_68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3ce85d903d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3ce85d903d_0_70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3ce85d903d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3ce85d903d_0_71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3ce85d903d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3ce85d903d_0_71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3ce85d903d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3ce85d903d_0_72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3ce85d903d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3ce85d903d_0_72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3ce85d903d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3ce85d903d_0_73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3ce85d903d_0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3ce85d903d_0_7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3ce85d903d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100" r="100" t="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5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/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subTitle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2" type="subTitle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b="1"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3" type="subTitle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4" type="subTitle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b="1" sz="16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2" type="subTitle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2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2">
  <p:cSld name="CUSTOM_4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лок текст + картинка" type="title">
  <p:cSld name="TITL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, фон градиент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этапы процесса">
  <p:cSld name="CUSTOM_5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исок в 2 колонки ">
  <p:cSld name="CUSTOM_8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{C0682BEC-1846-4AA4-A0AE-220490031B1B}</a:tableStyleId>
              </a:tblPr>
              <a:tblGrid>
                <a:gridCol w="3800400"/>
                <a:gridCol w="4410000"/>
              </a:tblGrid>
              <a:tr h="47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ru" sz="17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b="1"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ru" sz="17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b="1" sz="17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6175">
                <a:tc>
                  <a:txBody>
                    <a:bodyPr/>
                    <a:lstStyle/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сылка на источник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 ">
  <p:cSld name="CUSTOM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{C0682BEC-1846-4AA4-A0AE-220490031B1B}</a:tableStyleId>
              </a:tblPr>
              <a:tblGrid>
                <a:gridCol w="395875"/>
                <a:gridCol w="2403400"/>
                <a:gridCol w="2684725"/>
                <a:gridCol w="2477150"/>
              </a:tblGrid>
              <a:tr h="7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плашки + иллюстрация">
  <p:cSld name="SECTION_TITLE_AND_DESCRI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блока">
  <p:cSld name="CUSTOM_7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жный тезис крупным шрифтом " type="secHead">
  <p:cSld name="SECTION_HEAD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31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1"/>
          <p:cNvSpPr txBox="1"/>
          <p:nvPr>
            <p:ph idx="1" type="subTitle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_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 1">
  <p:cSld name="CUSTOM_2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3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3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 1">
  <p:cSld name="CUSTOM_4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" name="Google Shape;139;p3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3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2" Type="http://schemas.openxmlformats.org/officeDocument/2006/relationships/theme" Target="../theme/theme4.xml"/><Relationship Id="rId1" Type="http://schemas.openxmlformats.org/officeDocument/2006/relationships/image" Target="../media/image54.png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5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rive.google.com/drive/folders/1_jBkKU2HRLL26Wzz7eOPESOVAaIuvibp?usp=drive_link" TargetMode="External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40" Type="http://schemas.openxmlformats.org/officeDocument/2006/relationships/image" Target="../media/image61.png"/><Relationship Id="rId42" Type="http://schemas.openxmlformats.org/officeDocument/2006/relationships/image" Target="../media/image62.png"/><Relationship Id="rId41" Type="http://schemas.openxmlformats.org/officeDocument/2006/relationships/image" Target="../media/image57.png"/><Relationship Id="rId44" Type="http://schemas.openxmlformats.org/officeDocument/2006/relationships/image" Target="../media/image56.png"/><Relationship Id="rId43" Type="http://schemas.openxmlformats.org/officeDocument/2006/relationships/image" Target="../media/image74.png"/><Relationship Id="rId46" Type="http://schemas.openxmlformats.org/officeDocument/2006/relationships/image" Target="../media/image72.png"/><Relationship Id="rId45" Type="http://schemas.openxmlformats.org/officeDocument/2006/relationships/image" Target="../media/image59.png"/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31.png"/><Relationship Id="rId48" Type="http://schemas.openxmlformats.org/officeDocument/2006/relationships/image" Target="../media/image78.png"/><Relationship Id="rId47" Type="http://schemas.openxmlformats.org/officeDocument/2006/relationships/image" Target="../media/image71.png"/><Relationship Id="rId49" Type="http://schemas.openxmlformats.org/officeDocument/2006/relationships/image" Target="../media/image63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25.png"/><Relationship Id="rId8" Type="http://schemas.openxmlformats.org/officeDocument/2006/relationships/image" Target="../media/image32.png"/><Relationship Id="rId31" Type="http://schemas.openxmlformats.org/officeDocument/2006/relationships/image" Target="../media/image39.png"/><Relationship Id="rId30" Type="http://schemas.openxmlformats.org/officeDocument/2006/relationships/image" Target="../media/image43.png"/><Relationship Id="rId33" Type="http://schemas.openxmlformats.org/officeDocument/2006/relationships/image" Target="../media/image41.png"/><Relationship Id="rId32" Type="http://schemas.openxmlformats.org/officeDocument/2006/relationships/image" Target="../media/image45.png"/><Relationship Id="rId35" Type="http://schemas.openxmlformats.org/officeDocument/2006/relationships/image" Target="../media/image58.png"/><Relationship Id="rId34" Type="http://schemas.openxmlformats.org/officeDocument/2006/relationships/image" Target="../media/image49.png"/><Relationship Id="rId71" Type="http://schemas.openxmlformats.org/officeDocument/2006/relationships/image" Target="../media/image100.png"/><Relationship Id="rId70" Type="http://schemas.openxmlformats.org/officeDocument/2006/relationships/image" Target="../media/image92.png"/><Relationship Id="rId37" Type="http://schemas.openxmlformats.org/officeDocument/2006/relationships/image" Target="../media/image70.png"/><Relationship Id="rId36" Type="http://schemas.openxmlformats.org/officeDocument/2006/relationships/image" Target="../media/image53.png"/><Relationship Id="rId39" Type="http://schemas.openxmlformats.org/officeDocument/2006/relationships/image" Target="../media/image46.png"/><Relationship Id="rId38" Type="http://schemas.openxmlformats.org/officeDocument/2006/relationships/image" Target="../media/image55.png"/><Relationship Id="rId62" Type="http://schemas.openxmlformats.org/officeDocument/2006/relationships/image" Target="../media/image90.png"/><Relationship Id="rId61" Type="http://schemas.openxmlformats.org/officeDocument/2006/relationships/image" Target="../media/image84.png"/><Relationship Id="rId20" Type="http://schemas.openxmlformats.org/officeDocument/2006/relationships/image" Target="../media/image28.png"/><Relationship Id="rId64" Type="http://schemas.openxmlformats.org/officeDocument/2006/relationships/image" Target="../media/image87.png"/><Relationship Id="rId63" Type="http://schemas.openxmlformats.org/officeDocument/2006/relationships/image" Target="../media/image85.png"/><Relationship Id="rId22" Type="http://schemas.openxmlformats.org/officeDocument/2006/relationships/image" Target="../media/image35.png"/><Relationship Id="rId66" Type="http://schemas.openxmlformats.org/officeDocument/2006/relationships/image" Target="../media/image99.png"/><Relationship Id="rId21" Type="http://schemas.openxmlformats.org/officeDocument/2006/relationships/image" Target="../media/image4.png"/><Relationship Id="rId65" Type="http://schemas.openxmlformats.org/officeDocument/2006/relationships/image" Target="../media/image75.png"/><Relationship Id="rId24" Type="http://schemas.openxmlformats.org/officeDocument/2006/relationships/image" Target="../media/image47.png"/><Relationship Id="rId68" Type="http://schemas.openxmlformats.org/officeDocument/2006/relationships/image" Target="../media/image86.png"/><Relationship Id="rId23" Type="http://schemas.openxmlformats.org/officeDocument/2006/relationships/image" Target="../media/image50.png"/><Relationship Id="rId67" Type="http://schemas.openxmlformats.org/officeDocument/2006/relationships/image" Target="../media/image80.png"/><Relationship Id="rId60" Type="http://schemas.openxmlformats.org/officeDocument/2006/relationships/image" Target="../media/image81.png"/><Relationship Id="rId26" Type="http://schemas.openxmlformats.org/officeDocument/2006/relationships/image" Target="../media/image36.png"/><Relationship Id="rId25" Type="http://schemas.openxmlformats.org/officeDocument/2006/relationships/image" Target="../media/image34.png"/><Relationship Id="rId69" Type="http://schemas.openxmlformats.org/officeDocument/2006/relationships/image" Target="../media/image82.png"/><Relationship Id="rId28" Type="http://schemas.openxmlformats.org/officeDocument/2006/relationships/image" Target="../media/image38.png"/><Relationship Id="rId27" Type="http://schemas.openxmlformats.org/officeDocument/2006/relationships/image" Target="../media/image48.png"/><Relationship Id="rId29" Type="http://schemas.openxmlformats.org/officeDocument/2006/relationships/image" Target="../media/image44.png"/><Relationship Id="rId51" Type="http://schemas.openxmlformats.org/officeDocument/2006/relationships/image" Target="../media/image64.png"/><Relationship Id="rId50" Type="http://schemas.openxmlformats.org/officeDocument/2006/relationships/image" Target="../media/image60.png"/><Relationship Id="rId53" Type="http://schemas.openxmlformats.org/officeDocument/2006/relationships/image" Target="../media/image76.png"/><Relationship Id="rId52" Type="http://schemas.openxmlformats.org/officeDocument/2006/relationships/image" Target="../media/image69.png"/><Relationship Id="rId11" Type="http://schemas.openxmlformats.org/officeDocument/2006/relationships/image" Target="../media/image24.png"/><Relationship Id="rId55" Type="http://schemas.openxmlformats.org/officeDocument/2006/relationships/image" Target="../media/image79.png"/><Relationship Id="rId10" Type="http://schemas.openxmlformats.org/officeDocument/2006/relationships/image" Target="../media/image23.png"/><Relationship Id="rId54" Type="http://schemas.openxmlformats.org/officeDocument/2006/relationships/image" Target="../media/image68.png"/><Relationship Id="rId13" Type="http://schemas.openxmlformats.org/officeDocument/2006/relationships/image" Target="../media/image20.png"/><Relationship Id="rId57" Type="http://schemas.openxmlformats.org/officeDocument/2006/relationships/image" Target="../media/image67.png"/><Relationship Id="rId12" Type="http://schemas.openxmlformats.org/officeDocument/2006/relationships/image" Target="../media/image21.png"/><Relationship Id="rId56" Type="http://schemas.openxmlformats.org/officeDocument/2006/relationships/image" Target="../media/image65.png"/><Relationship Id="rId15" Type="http://schemas.openxmlformats.org/officeDocument/2006/relationships/image" Target="../media/image42.png"/><Relationship Id="rId59" Type="http://schemas.openxmlformats.org/officeDocument/2006/relationships/image" Target="../media/image73.png"/><Relationship Id="rId14" Type="http://schemas.openxmlformats.org/officeDocument/2006/relationships/image" Target="../media/image29.png"/><Relationship Id="rId58" Type="http://schemas.openxmlformats.org/officeDocument/2006/relationships/image" Target="../media/image66.png"/><Relationship Id="rId17" Type="http://schemas.openxmlformats.org/officeDocument/2006/relationships/image" Target="../media/image51.png"/><Relationship Id="rId16" Type="http://schemas.openxmlformats.org/officeDocument/2006/relationships/image" Target="../media/image13.png"/><Relationship Id="rId19" Type="http://schemas.openxmlformats.org/officeDocument/2006/relationships/image" Target="../media/image40.png"/><Relationship Id="rId18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88.png"/><Relationship Id="rId9" Type="http://schemas.openxmlformats.org/officeDocument/2006/relationships/image" Target="../media/image94.png"/><Relationship Id="rId5" Type="http://schemas.openxmlformats.org/officeDocument/2006/relationships/image" Target="../media/image91.png"/><Relationship Id="rId6" Type="http://schemas.openxmlformats.org/officeDocument/2006/relationships/image" Target="../media/image111.png"/><Relationship Id="rId7" Type="http://schemas.openxmlformats.org/officeDocument/2006/relationships/image" Target="../media/image89.png"/><Relationship Id="rId8" Type="http://schemas.openxmlformats.org/officeDocument/2006/relationships/image" Target="../media/image124.png"/><Relationship Id="rId11" Type="http://schemas.openxmlformats.org/officeDocument/2006/relationships/image" Target="../media/image121.png"/><Relationship Id="rId10" Type="http://schemas.openxmlformats.org/officeDocument/2006/relationships/image" Target="../media/image96.png"/><Relationship Id="rId13" Type="http://schemas.openxmlformats.org/officeDocument/2006/relationships/image" Target="../media/image52.png"/><Relationship Id="rId12" Type="http://schemas.openxmlformats.org/officeDocument/2006/relationships/image" Target="../media/image102.png"/><Relationship Id="rId15" Type="http://schemas.openxmlformats.org/officeDocument/2006/relationships/image" Target="../media/image109.png"/><Relationship Id="rId14" Type="http://schemas.openxmlformats.org/officeDocument/2006/relationships/image" Target="../media/image1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habr.com/ru/companies/rosatom/articles/841842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6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1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b="0" l="18598" r="18592" t="0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Тема вашего проекта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Название курса</a:t>
            </a:r>
            <a:endParaRPr sz="1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/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/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Защита проекта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Тема: 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37"/>
          <p:cNvPicPr preferRelativeResize="0"/>
          <p:nvPr/>
        </p:nvPicPr>
        <p:blipFill rotWithShape="1">
          <a:blip r:embed="rId3">
            <a:alphaModFix/>
          </a:blip>
          <a:srcRect b="13765" l="0" r="0" t="30931"/>
          <a:stretch/>
        </p:blipFill>
        <p:spPr>
          <a:xfrm>
            <a:off x="630000" y="208572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Иван Иванов</a:t>
            </a:r>
            <a:endParaRPr b="1" sz="23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 Medium"/>
                <a:ea typeface="Roboto Medium"/>
                <a:cs typeface="Roboto Medium"/>
                <a:sym typeface="Roboto Medium"/>
              </a:rPr>
              <a:t>Кратко о вас и вашей деятельности</a:t>
            </a:r>
            <a:endParaRPr sz="13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/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b="1" lang="ru" sz="3000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b="1" lang="ru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b="1" sz="3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/>
        </p:nvGraphicFramePr>
        <p:xfrm>
          <a:off x="952500" y="238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{C0682BEC-1846-4AA4-A0AE-220490031B1B}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Задача, которую нужно выполнить, чтобы её достичь: ниже примеры задач 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Визуализировать данные в виде дашборда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Сделать выводы по результатам анализа данных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т.д.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например – с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оздать интерактивный дашборд </a:t>
            </a:r>
            <a:endParaRPr sz="15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в Tableau и проанализировать данные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188" name="Google Shape;188;p39"/>
          <p:cNvGrpSpPr/>
          <p:nvPr/>
        </p:nvGrpSpPr>
        <p:grpSpPr>
          <a:xfrm>
            <a:off x="5926432" y="387201"/>
            <a:ext cx="3406316" cy="1342979"/>
            <a:chOff x="5857475" y="533400"/>
            <a:chExt cx="2993774" cy="1241200"/>
          </a:xfrm>
        </p:grpSpPr>
        <p:pic>
          <p:nvPicPr>
            <p:cNvPr id="189" name="Google Shape;18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57475" y="533400"/>
              <a:ext cx="2993774" cy="1241200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190" name="Google Shape;190;p39"/>
            <p:cNvSpPr txBox="1"/>
            <p:nvPr/>
          </p:nvSpPr>
          <p:spPr>
            <a:xfrm>
              <a:off x="6219675" y="654425"/>
              <a:ext cx="2544000" cy="95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chemeClr val="dk1"/>
                  </a:solidFill>
                </a:rPr>
                <a:t>Какую цель вы поставили перед собой? Какие задачи нужно выполнить, чтобы её достичь?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100">
                  <a:solidFill>
                    <a:schemeClr val="dk1"/>
                  </a:solidFill>
                </a:rPr>
                <a:t>На слайде </a:t>
              </a:r>
              <a:r>
                <a:rPr lang="ru" sz="1100">
                  <a:solidFill>
                    <a:schemeClr val="dk1"/>
                  </a:solidFill>
                </a:rPr>
                <a:t>приведен</a:t>
              </a:r>
              <a:r>
                <a:rPr lang="ru" sz="1100">
                  <a:solidFill>
                    <a:schemeClr val="dk1"/>
                  </a:solidFill>
                </a:rPr>
                <a:t> пример :)</a:t>
              </a:r>
              <a:endParaRPr sz="11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grpSp>
        <p:nvGrpSpPr>
          <p:cNvPr id="196" name="Google Shape;196;p40"/>
          <p:cNvGrpSpPr/>
          <p:nvPr/>
        </p:nvGrpSpPr>
        <p:grpSpPr>
          <a:xfrm>
            <a:off x="5299708" y="1140400"/>
            <a:ext cx="3539242" cy="1236599"/>
            <a:chOff x="4729635" y="887067"/>
            <a:chExt cx="3375207" cy="1399343"/>
          </a:xfrm>
        </p:grpSpPr>
        <p:pic>
          <p:nvPicPr>
            <p:cNvPr id="197" name="Google Shape;19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198" name="Google Shape;198;p40"/>
            <p:cNvSpPr txBox="1"/>
            <p:nvPr/>
          </p:nvSpPr>
          <p:spPr>
            <a:xfrm>
              <a:off x="5220710" y="959745"/>
              <a:ext cx="2694600" cy="1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Перечислите технологии/ПО/подходы, которые вы использовали в проекте и почему. Какое у вас сложилось впечатление о них?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aphicFrame>
        <p:nvGraphicFramePr>
          <p:cNvPr id="199" name="Google Shape;199;p40"/>
          <p:cNvGraphicFramePr/>
          <p:nvPr/>
        </p:nvGraphicFramePr>
        <p:xfrm>
          <a:off x="952500" y="189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{C0682BEC-1846-4AA4-A0AE-220490031B1B}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Что получилось</a:t>
            </a:r>
            <a:endParaRPr sz="3000"/>
          </a:p>
        </p:txBody>
      </p:sp>
      <p:grpSp>
        <p:nvGrpSpPr>
          <p:cNvPr id="205" name="Google Shape;205;p41"/>
          <p:cNvGrpSpPr/>
          <p:nvPr/>
        </p:nvGrpSpPr>
        <p:grpSpPr>
          <a:xfrm>
            <a:off x="3680645" y="990703"/>
            <a:ext cx="5151638" cy="2178707"/>
            <a:chOff x="3450575" y="752750"/>
            <a:chExt cx="5006451" cy="2031050"/>
          </a:xfrm>
        </p:grpSpPr>
        <p:pic>
          <p:nvPicPr>
            <p:cNvPr id="206" name="Google Shape;20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50575" y="752750"/>
              <a:ext cx="5006451" cy="2031050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207" name="Google Shape;207;p41"/>
            <p:cNvSpPr txBox="1"/>
            <p:nvPr/>
          </p:nvSpPr>
          <p:spPr>
            <a:xfrm>
              <a:off x="4199565" y="956335"/>
              <a:ext cx="4065000" cy="154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200">
                  <a:latin typeface="Roboto"/>
                  <a:ea typeface="Roboto"/>
                  <a:cs typeface="Roboto"/>
                  <a:sym typeface="Roboto"/>
                </a:rPr>
                <a:t>Разместите на слайде(-ах) </a:t>
              </a:r>
              <a:r>
                <a:rPr b="1"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артефакты проекта: </a:t>
              </a:r>
              <a:endParaRPr b="1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код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схемы (архитектура, БД)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ссылки на файлы в репозитории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скрины экранов </a:t>
              </a: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приложения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фото или видео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Либо продемонстрируйте проект отдельно.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graphicFrame>
        <p:nvGraphicFramePr>
          <p:cNvPr id="213" name="Google Shape;213;p42"/>
          <p:cNvGraphicFramePr/>
          <p:nvPr/>
        </p:nvGraphicFramePr>
        <p:xfrm>
          <a:off x="952500" y="171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{C0682BEC-1846-4AA4-A0AE-220490031B1B}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14" name="Google Shape;214;p42"/>
          <p:cNvGrpSpPr/>
          <p:nvPr/>
        </p:nvGrpSpPr>
        <p:grpSpPr>
          <a:xfrm>
            <a:off x="3633259" y="1248968"/>
            <a:ext cx="5534664" cy="2335504"/>
            <a:chOff x="4729635" y="887067"/>
            <a:chExt cx="3375207" cy="1399343"/>
          </a:xfrm>
        </p:grpSpPr>
        <p:pic>
          <p:nvPicPr>
            <p:cNvPr id="215" name="Google Shape;21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216" name="Google Shape;216;p42"/>
            <p:cNvSpPr txBox="1"/>
            <p:nvPr/>
          </p:nvSpPr>
          <p:spPr>
            <a:xfrm>
              <a:off x="5208319" y="1064138"/>
              <a:ext cx="2869500" cy="10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ru" sz="1100">
                  <a:solidFill>
                    <a:schemeClr val="dk1"/>
                  </a:solidFill>
                </a:rPr>
                <a:t>Оцените работу над проектом и ответьте на вопросы:</a:t>
              </a:r>
              <a:endParaRPr b="1"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У вас получилось достичь цели и выполнить все задачи?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Что далось легко, а с чем возникли трудности?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Сколько времени занял проект?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Насколько полезным оказался для вас проект от 1 до 10?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ru" sz="1100">
                  <a:solidFill>
                    <a:schemeClr val="dk1"/>
                  </a:solidFill>
                </a:rPr>
                <a:t>1 = я не научился ничему новому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ru" sz="1100">
                  <a:solidFill>
                    <a:schemeClr val="dk1"/>
                  </a:solidFill>
                </a:rPr>
                <a:t>10 = очень полезно, я получил новый опыт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Остались ли у вас вопросы по проекту?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Как вы планируете развиваться дальше?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7" name="Google Shape;227;p43"/>
          <p:cNvGrpSpPr/>
          <p:nvPr/>
        </p:nvGrpSpPr>
        <p:grpSpPr>
          <a:xfrm>
            <a:off x="5573613" y="528650"/>
            <a:ext cx="3356305" cy="1236599"/>
            <a:chOff x="4729635" y="887067"/>
            <a:chExt cx="3375207" cy="1399343"/>
          </a:xfrm>
        </p:grpSpPr>
        <p:pic>
          <p:nvPicPr>
            <p:cNvPr id="228" name="Google Shape;22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229" name="Google Shape;229;p43"/>
            <p:cNvSpPr txBox="1"/>
            <p:nvPr/>
          </p:nvSpPr>
          <p:spPr>
            <a:xfrm>
              <a:off x="5236901" y="1064135"/>
              <a:ext cx="26946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Ответьте на вопросы одногруппников и преподавателей и получите обратную связь на свою работу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/>
          <p:nvPr>
            <p:ph idx="4294967295" type="title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</a:t>
            </a:r>
            <a:r>
              <a:rPr lang="ru" sz="5000">
                <a:solidFill>
                  <a:schemeClr val="lt1"/>
                </a:solidFill>
              </a:rPr>
              <a:t>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6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Инструменты для работы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 презентацией</a:t>
            </a:r>
            <a:endParaRPr/>
          </a:p>
        </p:txBody>
      </p:sp>
      <p:pic>
        <p:nvPicPr>
          <p:cNvPr id="247" name="Google Shape;24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7"/>
          <p:cNvSpPr txBox="1"/>
          <p:nvPr/>
        </p:nvSpPr>
        <p:spPr>
          <a:xfrm>
            <a:off x="629988" y="691425"/>
            <a:ext cx="8423400" cy="34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500">
                <a:latin typeface="Roboto"/>
                <a:ea typeface="Roboto"/>
                <a:cs typeface="Roboto"/>
                <a:sym typeface="Roboto"/>
              </a:rPr>
              <a:t>1. Текст: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«Одна мысль — один слайд»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Размещайте на каждом слайде до 5 строк текста, не более 5 слов в каждой строке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Выделяйте главные идеи с помощью размера и цвета шрифта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подзаголовки, если заголовок слишком длинный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Группируйте информацию в визуальные блоки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Делите большие текстовые блоки на колонки или списки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стрелки для обозначения последовательности информации 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Чередуйте текстовые блоки с графическими элементами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500">
                <a:latin typeface="Roboto"/>
                <a:ea typeface="Roboto"/>
                <a:cs typeface="Roboto"/>
                <a:sym typeface="Roboto"/>
              </a:rPr>
              <a:t>2. Используйте шрифт Roboto, кегль: заголовок – 25-30, подзаголовок –  17, 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latin typeface="Roboto"/>
                <a:ea typeface="Roboto"/>
                <a:cs typeface="Roboto"/>
                <a:sym typeface="Roboto"/>
              </a:rPr>
              <a:t>основной текст – 15-12, межстрочный интервал 1,15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8"/>
          <p:cNvSpPr txBox="1"/>
          <p:nvPr/>
        </p:nvSpPr>
        <p:spPr>
          <a:xfrm>
            <a:off x="629988" y="781050"/>
            <a:ext cx="8423400" cy="21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Используйте нашу фирменную цветовую палитру (её найдете в следующем слайде) 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Визуальные материалы: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Добавляйте релевантные изображения к текстовым блокам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иконки или эмодзи для визуализации ключевых пунктов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инфографику для визуализации сложной информации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b="1"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качественные изображения вы можете взять </a:t>
            </a:r>
            <a:r>
              <a:rPr b="1" lang="ru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в папке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675" y="2576650"/>
            <a:ext cx="348500" cy="3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252" y="2724091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5266" y="583317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4266" y="2316545"/>
            <a:ext cx="555893" cy="555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71465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96919" y="3834697"/>
            <a:ext cx="424366" cy="424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57775" y="585425"/>
            <a:ext cx="495295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94545" y="4262483"/>
            <a:ext cx="360144" cy="360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05173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01471" y="3985239"/>
            <a:ext cx="508703" cy="508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09009" y="539005"/>
            <a:ext cx="588135" cy="588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30352" y="4433144"/>
            <a:ext cx="404216" cy="404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901362" y="561770"/>
            <a:ext cx="542605" cy="542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8859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14269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054328" y="4448785"/>
            <a:ext cx="372935" cy="372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237883" y="3979170"/>
            <a:ext cx="520847" cy="52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207788" y="3288498"/>
            <a:ext cx="595986" cy="595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9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19053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9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2172209" y="1391638"/>
            <a:ext cx="493512" cy="49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9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150853" y="1403354"/>
            <a:ext cx="470080" cy="4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52077" y="4281498"/>
            <a:ext cx="537109" cy="53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9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519706" y="1355027"/>
            <a:ext cx="566735" cy="566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9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187775" y="2316539"/>
            <a:ext cx="493249" cy="4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9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961355" y="2667110"/>
            <a:ext cx="588118" cy="588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9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7710770" y="3352476"/>
            <a:ext cx="468034" cy="468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9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5181495" y="2922709"/>
            <a:ext cx="493249" cy="493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9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2131524" y="273059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9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4009998" y="2316535"/>
            <a:ext cx="530079" cy="530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9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54454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9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107863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9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1053627" y="4248959"/>
            <a:ext cx="602188" cy="602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9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469475" y="2745317"/>
            <a:ext cx="470090" cy="470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9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2316972" y="556974"/>
            <a:ext cx="552197" cy="552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9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4554831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9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4022582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9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4554831" y="2329119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9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5663349" y="2901775"/>
            <a:ext cx="597725" cy="59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9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1985334" y="3818550"/>
            <a:ext cx="456645" cy="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9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143404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9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188517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9"/>
          <p:cNvPicPr preferRelativeResize="0"/>
          <p:nvPr/>
        </p:nvPicPr>
        <p:blipFill>
          <a:blip r:embed="rId43">
            <a:alphaModFix/>
          </a:blip>
          <a:stretch>
            <a:fillRect/>
          </a:stretch>
        </p:blipFill>
        <p:spPr>
          <a:xfrm>
            <a:off x="2026525" y="4443213"/>
            <a:ext cx="384075" cy="38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9"/>
          <p:cNvPicPr preferRelativeResize="0"/>
          <p:nvPr/>
        </p:nvPicPr>
        <p:blipFill>
          <a:blip r:embed="rId44">
            <a:alphaModFix/>
          </a:blip>
          <a:stretch>
            <a:fillRect/>
          </a:stretch>
        </p:blipFill>
        <p:spPr>
          <a:xfrm>
            <a:off x="2502160" y="3844766"/>
            <a:ext cx="404231" cy="404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9"/>
          <p:cNvPicPr preferRelativeResize="0"/>
          <p:nvPr/>
        </p:nvPicPr>
        <p:blipFill>
          <a:blip r:embed="rId45">
            <a:alphaModFix/>
          </a:blip>
          <a:stretch>
            <a:fillRect/>
          </a:stretch>
        </p:blipFill>
        <p:spPr>
          <a:xfrm>
            <a:off x="4375738" y="4226469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9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3919814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9"/>
          <p:cNvPicPr preferRelativeResize="0"/>
          <p:nvPr/>
        </p:nvPicPr>
        <p:blipFill>
          <a:blip r:embed="rId47">
            <a:alphaModFix/>
          </a:blip>
          <a:stretch>
            <a:fillRect/>
          </a:stretch>
        </p:blipFill>
        <p:spPr>
          <a:xfrm>
            <a:off x="4381317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9"/>
          <p:cNvPicPr preferRelativeResize="0"/>
          <p:nvPr/>
        </p:nvPicPr>
        <p:blipFill>
          <a:blip r:embed="rId48">
            <a:alphaModFix/>
          </a:blip>
          <a:stretch>
            <a:fillRect/>
          </a:stretch>
        </p:blipFill>
        <p:spPr>
          <a:xfrm>
            <a:off x="5421140" y="4251223"/>
            <a:ext cx="382690" cy="382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9"/>
          <p:cNvPicPr preferRelativeResize="0"/>
          <p:nvPr/>
        </p:nvPicPr>
        <p:blipFill>
          <a:blip r:embed="rId49">
            <a:alphaModFix/>
          </a:blip>
          <a:stretch>
            <a:fillRect/>
          </a:stretch>
        </p:blipFill>
        <p:spPr>
          <a:xfrm>
            <a:off x="1561510" y="1329664"/>
            <a:ext cx="617460" cy="617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9"/>
          <p:cNvPicPr preferRelativeResize="0"/>
          <p:nvPr/>
        </p:nvPicPr>
        <p:blipFill>
          <a:blip r:embed="rId50">
            <a:alphaModFix/>
          </a:blip>
          <a:stretch>
            <a:fillRect/>
          </a:stretch>
        </p:blipFill>
        <p:spPr>
          <a:xfrm>
            <a:off x="7078625" y="58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9"/>
          <p:cNvPicPr preferRelativeResize="0"/>
          <p:nvPr/>
        </p:nvPicPr>
        <p:blipFill>
          <a:blip r:embed="rId51">
            <a:alphaModFix/>
          </a:blip>
          <a:stretch>
            <a:fillRect/>
          </a:stretch>
        </p:blipFill>
        <p:spPr>
          <a:xfrm>
            <a:off x="7121933" y="113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9"/>
          <p:cNvPicPr preferRelativeResize="0"/>
          <p:nvPr/>
        </p:nvPicPr>
        <p:blipFill>
          <a:blip r:embed="rId52">
            <a:alphaModFix/>
          </a:blip>
          <a:stretch>
            <a:fillRect/>
          </a:stretch>
        </p:blipFill>
        <p:spPr>
          <a:xfrm rot="808536">
            <a:off x="8249366" y="2529116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9"/>
          <p:cNvPicPr preferRelativeResize="0"/>
          <p:nvPr/>
        </p:nvPicPr>
        <p:blipFill>
          <a:blip r:embed="rId53">
            <a:alphaModFix/>
          </a:blip>
          <a:stretch>
            <a:fillRect/>
          </a:stretch>
        </p:blipFill>
        <p:spPr>
          <a:xfrm>
            <a:off x="7692265" y="249421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9"/>
          <p:cNvPicPr preferRelativeResize="0"/>
          <p:nvPr/>
        </p:nvPicPr>
        <p:blipFill>
          <a:blip r:embed="rId54">
            <a:alphaModFix/>
          </a:blip>
          <a:stretch>
            <a:fillRect/>
          </a:stretch>
        </p:blipFill>
        <p:spPr>
          <a:xfrm>
            <a:off x="7202083" y="2494244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9"/>
          <p:cNvPicPr preferRelativeResize="0"/>
          <p:nvPr/>
        </p:nvPicPr>
        <p:blipFill>
          <a:blip r:embed="rId55">
            <a:alphaModFix/>
          </a:blip>
          <a:stretch>
            <a:fillRect/>
          </a:stretch>
        </p:blipFill>
        <p:spPr>
          <a:xfrm>
            <a:off x="7202071" y="1974083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9"/>
          <p:cNvPicPr preferRelativeResize="0"/>
          <p:nvPr/>
        </p:nvPicPr>
        <p:blipFill>
          <a:blip r:embed="rId56">
            <a:alphaModFix/>
          </a:blip>
          <a:stretch>
            <a:fillRect/>
          </a:stretch>
        </p:blipFill>
        <p:spPr>
          <a:xfrm>
            <a:off x="7692265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9"/>
          <p:cNvPicPr preferRelativeResize="0"/>
          <p:nvPr/>
        </p:nvPicPr>
        <p:blipFill>
          <a:blip r:embed="rId57">
            <a:alphaModFix/>
          </a:blip>
          <a:stretch>
            <a:fillRect/>
          </a:stretch>
        </p:blipFill>
        <p:spPr>
          <a:xfrm>
            <a:off x="8218004" y="116739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9"/>
          <p:cNvPicPr preferRelativeResize="0"/>
          <p:nvPr/>
        </p:nvPicPr>
        <p:blipFill>
          <a:blip r:embed="rId58">
            <a:alphaModFix/>
          </a:blip>
          <a:stretch>
            <a:fillRect/>
          </a:stretch>
        </p:blipFill>
        <p:spPr>
          <a:xfrm>
            <a:off x="7631405" y="118047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9"/>
          <p:cNvPicPr preferRelativeResize="0"/>
          <p:nvPr/>
        </p:nvPicPr>
        <p:blipFill>
          <a:blip r:embed="rId59">
            <a:alphaModFix/>
          </a:blip>
          <a:stretch>
            <a:fillRect/>
          </a:stretch>
        </p:blipFill>
        <p:spPr>
          <a:xfrm>
            <a:off x="8164542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9"/>
          <p:cNvPicPr preferRelativeResize="0"/>
          <p:nvPr/>
        </p:nvPicPr>
        <p:blipFill>
          <a:blip r:embed="rId60">
            <a:alphaModFix/>
          </a:blip>
          <a:stretch>
            <a:fillRect/>
          </a:stretch>
        </p:blipFill>
        <p:spPr>
          <a:xfrm>
            <a:off x="7666734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9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3495732" y="58331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9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7197364" y="4023550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9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7175125" y="3370459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9"/>
          <p:cNvPicPr preferRelativeResize="0"/>
          <p:nvPr/>
        </p:nvPicPr>
        <p:blipFill>
          <a:blip r:embed="rId64">
            <a:alphaModFix/>
          </a:blip>
          <a:stretch>
            <a:fillRect/>
          </a:stretch>
        </p:blipFill>
        <p:spPr>
          <a:xfrm>
            <a:off x="8193251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9"/>
          <p:cNvPicPr preferRelativeResize="0"/>
          <p:nvPr/>
        </p:nvPicPr>
        <p:blipFill rotWithShape="1">
          <a:blip r:embed="rId65">
            <a:alphaModFix/>
          </a:blip>
          <a:srcRect b="0" l="0" r="0" t="0"/>
          <a:stretch/>
        </p:blipFill>
        <p:spPr>
          <a:xfrm>
            <a:off x="2337816" y="2058480"/>
            <a:ext cx="443210" cy="44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9"/>
          <p:cNvPicPr preferRelativeResize="0"/>
          <p:nvPr/>
        </p:nvPicPr>
        <p:blipFill>
          <a:blip r:embed="rId66">
            <a:alphaModFix/>
          </a:blip>
          <a:stretch>
            <a:fillRect/>
          </a:stretch>
        </p:blipFill>
        <p:spPr>
          <a:xfrm>
            <a:off x="2775062" y="1388632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9"/>
          <p:cNvPicPr preferRelativeResize="0"/>
          <p:nvPr/>
        </p:nvPicPr>
        <p:blipFill rotWithShape="1">
          <a:blip r:embed="rId67">
            <a:alphaModFix/>
          </a:blip>
          <a:srcRect b="0" l="0" r="0" t="0"/>
          <a:stretch/>
        </p:blipFill>
        <p:spPr>
          <a:xfrm>
            <a:off x="5056303" y="4700669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9"/>
          <p:cNvPicPr preferRelativeResize="0"/>
          <p:nvPr/>
        </p:nvPicPr>
        <p:blipFill rotWithShape="1">
          <a:blip r:embed="rId68">
            <a:alphaModFix/>
          </a:blip>
          <a:srcRect b="0" l="0" r="0" t="0"/>
          <a:stretch/>
        </p:blipFill>
        <p:spPr>
          <a:xfrm>
            <a:off x="5476501" y="4711956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9"/>
          <p:cNvPicPr preferRelativeResize="0"/>
          <p:nvPr/>
        </p:nvPicPr>
        <p:blipFill>
          <a:blip r:embed="rId69">
            <a:alphaModFix/>
          </a:blip>
          <a:stretch>
            <a:fillRect/>
          </a:stretch>
        </p:blipFill>
        <p:spPr>
          <a:xfrm>
            <a:off x="2691814" y="2761497"/>
            <a:ext cx="437718" cy="43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9"/>
          <p:cNvPicPr preferRelativeResize="0"/>
          <p:nvPr/>
        </p:nvPicPr>
        <p:blipFill>
          <a:blip r:embed="rId70">
            <a:alphaModFix/>
          </a:blip>
          <a:stretch>
            <a:fillRect/>
          </a:stretch>
        </p:blipFill>
        <p:spPr>
          <a:xfrm>
            <a:off x="3835523" y="1440998"/>
            <a:ext cx="617475" cy="61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9"/>
          <p:cNvPicPr preferRelativeResize="0"/>
          <p:nvPr/>
        </p:nvPicPr>
        <p:blipFill>
          <a:blip r:embed="rId71">
            <a:alphaModFix/>
          </a:blip>
          <a:stretch>
            <a:fillRect/>
          </a:stretch>
        </p:blipFill>
        <p:spPr>
          <a:xfrm>
            <a:off x="4540306" y="1419187"/>
            <a:ext cx="729762" cy="72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/>
          <p:nvPr/>
        </p:nvSpPr>
        <p:spPr>
          <a:xfrm>
            <a:off x="5386000" y="197300"/>
            <a:ext cx="3467400" cy="2147400"/>
          </a:xfrm>
          <a:prstGeom prst="roundRect">
            <a:avLst>
              <a:gd fmla="val 16667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7" name="Google Shape;33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677" y="1327053"/>
            <a:ext cx="1812680" cy="62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7700" y="489978"/>
            <a:ext cx="1812644" cy="627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6748" y="670077"/>
            <a:ext cx="941925" cy="120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0300" y="2760755"/>
            <a:ext cx="1883234" cy="780798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880000" dist="19050">
              <a:srgbClr val="000000">
                <a:alpha val="40000"/>
              </a:srgbClr>
            </a:outerShdw>
          </a:effectLst>
        </p:spPr>
      </p:pic>
      <p:pic>
        <p:nvPicPr>
          <p:cNvPr id="341" name="Google Shape;341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72170" y="3726284"/>
            <a:ext cx="1948175" cy="765766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880000" dist="19050">
              <a:srgbClr val="000000">
                <a:alpha val="40000"/>
              </a:srgbClr>
            </a:outerShdw>
          </a:effectLst>
        </p:spPr>
      </p:pic>
      <p:pic>
        <p:nvPicPr>
          <p:cNvPr id="342" name="Google Shape;342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95668" y="510640"/>
            <a:ext cx="765850" cy="112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92750" y="586627"/>
            <a:ext cx="1397868" cy="108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8750" y="623231"/>
            <a:ext cx="880325" cy="899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7775" y="1972625"/>
            <a:ext cx="880324" cy="87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38025" y="1871888"/>
            <a:ext cx="1081150" cy="10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795678" y="3300686"/>
            <a:ext cx="941925" cy="101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108466" y="1689619"/>
            <a:ext cx="880325" cy="1348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5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77949" y="3180927"/>
            <a:ext cx="941925" cy="1087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Шаблоны, которые вы можете использовать для рассказа о своем проекте</a:t>
            </a:r>
            <a:endParaRPr/>
          </a:p>
        </p:txBody>
      </p:sp>
      <p:pic>
        <p:nvPicPr>
          <p:cNvPr id="355" name="Google Shape;35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"/>
          <p:cNvSpPr txBox="1"/>
          <p:nvPr>
            <p:ph type="title"/>
          </p:nvPr>
        </p:nvSpPr>
        <p:spPr>
          <a:xfrm>
            <a:off x="548556" y="1594106"/>
            <a:ext cx="73797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venir"/>
              <a:buNone/>
            </a:pPr>
            <a:r>
              <a:rPr lang="ru"/>
              <a:t>Материал для моделирования</a:t>
            </a:r>
            <a:endParaRPr sz="36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52"/>
          <p:cNvSpPr/>
          <p:nvPr/>
        </p:nvSpPr>
        <p:spPr>
          <a:xfrm>
            <a:off x="494025" y="682688"/>
            <a:ext cx="6167400" cy="10707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Название подтемы</a:t>
            </a:r>
            <a:endParaRPr sz="34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62" name="Google Shape;36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100" y="1077650"/>
            <a:ext cx="1078825" cy="12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3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53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Определение – это</a:t>
            </a:r>
            <a:endParaRPr sz="2300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68" name="Google Shape;368;p53"/>
          <p:cNvSpPr txBox="1"/>
          <p:nvPr/>
        </p:nvSpPr>
        <p:spPr>
          <a:xfrm>
            <a:off x="721500" y="1984175"/>
            <a:ext cx="74034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описание данных в виде набора сущностей, отношений между ними, атрибутов сущностей,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их типов данных, соглашений об именовании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правил проверки целостностей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4"/>
          <p:cNvSpPr txBox="1"/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Слайды с “кнопками” </a:t>
            </a:r>
            <a:endParaRPr/>
          </a:p>
        </p:txBody>
      </p:sp>
      <p:sp>
        <p:nvSpPr>
          <p:cNvPr id="374" name="Google Shape;374;p54"/>
          <p:cNvSpPr/>
          <p:nvPr/>
        </p:nvSpPr>
        <p:spPr>
          <a:xfrm>
            <a:off x="720000" y="1534575"/>
            <a:ext cx="5400900" cy="142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Тезис 1/Определение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54"/>
          <p:cNvSpPr/>
          <p:nvPr/>
        </p:nvSpPr>
        <p:spPr>
          <a:xfrm>
            <a:off x="720000" y="3285100"/>
            <a:ext cx="5400900" cy="14274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Тезис 2 (выбирая его, словно щелкаем на него мышью,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в следующем слайде раскрываем выбранную 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мысль полностью) / Определение 2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76" name="Google Shape;37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3550" y="388995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5"/>
          <p:cNvSpPr/>
          <p:nvPr/>
        </p:nvSpPr>
        <p:spPr>
          <a:xfrm>
            <a:off x="1010550" y="1550450"/>
            <a:ext cx="6878100" cy="14274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Определение</a:t>
            </a: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– </a:t>
            </a: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их типов данных, соглашений об именовании и правил проверки целостностей 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2" name="Google Shape;38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1800" y="231210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6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Заголовок: главная мысль слайда </a:t>
            </a:r>
            <a:endParaRPr/>
          </a:p>
        </p:txBody>
      </p:sp>
      <p:sp>
        <p:nvSpPr>
          <p:cNvPr id="388" name="Google Shape;388;p56"/>
          <p:cNvSpPr txBox="1"/>
          <p:nvPr>
            <p:ph type="title"/>
          </p:nvPr>
        </p:nvSpPr>
        <p:spPr>
          <a:xfrm>
            <a:off x="611950" y="938325"/>
            <a:ext cx="67242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500">
                <a:latin typeface="Roboto Medium"/>
                <a:ea typeface="Roboto Medium"/>
                <a:cs typeface="Roboto Medium"/>
                <a:sym typeface="Roboto Medium"/>
              </a:rPr>
              <a:t>Подзаголовок – дополнение к основной мысли</a:t>
            </a:r>
            <a:endParaRPr b="0"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9" name="Google Shape;389;p56"/>
          <p:cNvSpPr txBox="1"/>
          <p:nvPr/>
        </p:nvSpPr>
        <p:spPr>
          <a:xfrm>
            <a:off x="662850" y="1917013"/>
            <a:ext cx="40920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Источников много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от клиента может проходить через несколько различных микросервисов, причем в зависимости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различных аспектов, этот путь может состоять из разных узлов.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56"/>
          <p:cNvSpPr/>
          <p:nvPr/>
        </p:nvSpPr>
        <p:spPr>
          <a:xfrm>
            <a:off x="6203150" y="1392225"/>
            <a:ext cx="2490600" cy="309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/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sp>
        <p:nvSpPr>
          <p:cNvPr id="396" name="Google Shape;396;p57"/>
          <p:cNvSpPr txBox="1"/>
          <p:nvPr/>
        </p:nvSpPr>
        <p:spPr>
          <a:xfrm>
            <a:off x="611950" y="1269600"/>
            <a:ext cx="6066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и поговорим 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 мониторинге работы самих приложений.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метрик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 приложений и что такое трассировка.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клиента может проходить через несколько различных микросервисов.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 зависимости от различных аспектов, этот путь может состоять из разных узлов.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8"/>
          <p:cNvSpPr txBox="1"/>
          <p:nvPr/>
        </p:nvSpPr>
        <p:spPr>
          <a:xfrm>
            <a:off x="800575" y="1349525"/>
            <a:ext cx="7224600" cy="30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с приложений и что такое трассировка.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осуществлять сбор количественных показателей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 событиям, формирующим тренды с помощью метрик.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58"/>
          <p:cNvSpPr txBox="1"/>
          <p:nvPr>
            <p:ph type="title"/>
          </p:nvPr>
        </p:nvSpPr>
        <p:spPr>
          <a:xfrm>
            <a:off x="611950" y="3508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pic>
        <p:nvPicPr>
          <p:cNvPr id="403" name="Google Shape;40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146812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241075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3353375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9"/>
          <p:cNvSpPr txBox="1"/>
          <p:nvPr>
            <p:ph type="title"/>
          </p:nvPr>
        </p:nvSpPr>
        <p:spPr>
          <a:xfrm>
            <a:off x="623400" y="34559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50505"/>
                </a:solidFill>
              </a:rPr>
              <a:t>Слайд со списком </a:t>
            </a:r>
            <a:endParaRPr>
              <a:solidFill>
                <a:srgbClr val="050505"/>
              </a:solidFill>
            </a:endParaRPr>
          </a:p>
        </p:txBody>
      </p:sp>
      <p:graphicFrame>
        <p:nvGraphicFramePr>
          <p:cNvPr id="411" name="Google Shape;411;p59"/>
          <p:cNvGraphicFramePr/>
          <p:nvPr/>
        </p:nvGraphicFramePr>
        <p:xfrm>
          <a:off x="623400" y="139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{C0682BEC-1846-4AA4-A0AE-220490031B1B}</a:tableStyleId>
              </a:tblPr>
              <a:tblGrid>
                <a:gridCol w="489425"/>
                <a:gridCol w="6749575"/>
              </a:tblGrid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0"/>
          <p:cNvSpPr txBox="1"/>
          <p:nvPr>
            <p:ph type="title"/>
          </p:nvPr>
        </p:nvSpPr>
        <p:spPr>
          <a:xfrm>
            <a:off x="611950" y="326500"/>
            <a:ext cx="8214300" cy="11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Главная мысль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слайда  </a:t>
            </a:r>
            <a:endParaRPr/>
          </a:p>
        </p:txBody>
      </p:sp>
      <p:sp>
        <p:nvSpPr>
          <p:cNvPr id="417" name="Google Shape;417;p60"/>
          <p:cNvSpPr txBox="1"/>
          <p:nvPr>
            <p:ph type="title"/>
          </p:nvPr>
        </p:nvSpPr>
        <p:spPr>
          <a:xfrm>
            <a:off x="611950" y="1646950"/>
            <a:ext cx="4239900" cy="24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В случае, если мы обнаружили превышение </a:t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по какому-то определенному параметру, то </a:t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нам необходимо разобраться в причинах произошедшего, и здесь нам на помощь приходят журналы событий сервисов. </a:t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В логах можно найти много полезной информации касающейся проблем в работе приложения, по сути, если событие в принципе логируется, то мы можем его найти и проанализировать.</a:t>
            </a:r>
            <a:endParaRPr b="0" sz="1300"/>
          </a:p>
        </p:txBody>
      </p:sp>
      <p:sp>
        <p:nvSpPr>
          <p:cNvPr id="418" name="Google Shape;418;p60"/>
          <p:cNvSpPr txBox="1"/>
          <p:nvPr/>
        </p:nvSpPr>
        <p:spPr>
          <a:xfrm>
            <a:off x="611950" y="4496675"/>
            <a:ext cx="423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ссылка на источник кегль 11: </a:t>
            </a:r>
            <a:r>
              <a:rPr lang="ru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https://habr.com/ru/companies/rosatom/articles/841842/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60"/>
          <p:cNvSpPr/>
          <p:nvPr/>
        </p:nvSpPr>
        <p:spPr>
          <a:xfrm>
            <a:off x="5306100" y="0"/>
            <a:ext cx="38379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 txBox="1"/>
          <p:nvPr>
            <p:ph type="title"/>
          </p:nvPr>
        </p:nvSpPr>
        <p:spPr>
          <a:xfrm>
            <a:off x="623400" y="42597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3 колонками</a:t>
            </a:r>
            <a:endParaRPr/>
          </a:p>
        </p:txBody>
      </p:sp>
      <p:sp>
        <p:nvSpPr>
          <p:cNvPr id="425" name="Google Shape;425;p61"/>
          <p:cNvSpPr txBox="1"/>
          <p:nvPr/>
        </p:nvSpPr>
        <p:spPr>
          <a:xfrm>
            <a:off x="13943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61"/>
          <p:cNvSpPr txBox="1"/>
          <p:nvPr/>
        </p:nvSpPr>
        <p:spPr>
          <a:xfrm>
            <a:off x="36707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61"/>
          <p:cNvSpPr txBox="1"/>
          <p:nvPr/>
        </p:nvSpPr>
        <p:spPr>
          <a:xfrm>
            <a:off x="59471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8" name="Google Shape;42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3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910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6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61"/>
          <p:cNvGrpSpPr/>
          <p:nvPr/>
        </p:nvGrpSpPr>
        <p:grpSpPr>
          <a:xfrm>
            <a:off x="6080501" y="248200"/>
            <a:ext cx="2783324" cy="1153950"/>
            <a:chOff x="6567151" y="248200"/>
            <a:chExt cx="2783324" cy="1153950"/>
          </a:xfrm>
        </p:grpSpPr>
        <p:pic>
          <p:nvPicPr>
            <p:cNvPr id="432" name="Google Shape;432;p6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567151" y="248200"/>
              <a:ext cx="2783324" cy="1153950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433" name="Google Shape;433;p61"/>
            <p:cNvSpPr txBox="1"/>
            <p:nvPr/>
          </p:nvSpPr>
          <p:spPr>
            <a:xfrm>
              <a:off x="6966546" y="434875"/>
              <a:ext cx="22215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latin typeface="Roboto"/>
                  <a:ea typeface="Roboto"/>
                  <a:cs typeface="Roboto"/>
                  <a:sym typeface="Roboto"/>
                </a:rPr>
                <a:t>поменяйте иконки на подходящие по смыслу (слайд 100)</a:t>
              </a:r>
              <a:endParaRPr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2"/>
          <p:cNvSpPr txBox="1"/>
          <p:nvPr>
            <p:ph type="title"/>
          </p:nvPr>
        </p:nvSpPr>
        <p:spPr>
          <a:xfrm>
            <a:off x="500550" y="28057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Сравнение двух кейсов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9" name="Google Shape;439;p62"/>
          <p:cNvSpPr/>
          <p:nvPr/>
        </p:nvSpPr>
        <p:spPr>
          <a:xfrm>
            <a:off x="4795100" y="1522725"/>
            <a:ext cx="3414600" cy="2400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62"/>
          <p:cNvSpPr/>
          <p:nvPr/>
        </p:nvSpPr>
        <p:spPr>
          <a:xfrm>
            <a:off x="934300" y="1522725"/>
            <a:ext cx="3414600" cy="2400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62"/>
          <p:cNvSpPr txBox="1"/>
          <p:nvPr/>
        </p:nvSpPr>
        <p:spPr>
          <a:xfrm>
            <a:off x="1040225" y="1993025"/>
            <a:ext cx="3414600" cy="16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является то, что они поддаются агрегированию, то есть, метрики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похожи на атомы, которые складываются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единый логический индикатор, счетчик или гистограмму за определенный промежуток времени.</a:t>
            </a: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62"/>
          <p:cNvSpPr txBox="1"/>
          <p:nvPr/>
        </p:nvSpPr>
        <p:spPr>
          <a:xfrm>
            <a:off x="5005100" y="2000675"/>
            <a:ext cx="32046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качестве примеров: текущая глубина очереди может быть смоделирована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индикатор, количество входящих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HTTP-запросов может быть смоделировано как счетчик, обновления которого агрегируются простым сложением.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62"/>
          <p:cNvSpPr txBox="1"/>
          <p:nvPr/>
        </p:nvSpPr>
        <p:spPr>
          <a:xfrm>
            <a:off x="1040225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Кейс 1</a:t>
            </a:r>
            <a:endParaRPr b="1" sz="1700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62"/>
          <p:cNvSpPr txBox="1"/>
          <p:nvPr/>
        </p:nvSpPr>
        <p:spPr>
          <a:xfrm>
            <a:off x="5005100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2AB7E4"/>
                </a:solidFill>
                <a:latin typeface="Roboto"/>
                <a:ea typeface="Roboto"/>
                <a:cs typeface="Roboto"/>
                <a:sym typeface="Roboto"/>
              </a:rPr>
              <a:t>Кейс 2</a:t>
            </a:r>
            <a:endParaRPr b="1" sz="1700">
              <a:solidFill>
                <a:srgbClr val="2AB7E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2050" y="0"/>
            <a:ext cx="921605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63"/>
          <p:cNvSpPr/>
          <p:nvPr/>
        </p:nvSpPr>
        <p:spPr>
          <a:xfrm>
            <a:off x="1850100" y="804751"/>
            <a:ext cx="5443800" cy="118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63"/>
          <p:cNvSpPr/>
          <p:nvPr/>
        </p:nvSpPr>
        <p:spPr>
          <a:xfrm>
            <a:off x="1850100" y="2134582"/>
            <a:ext cx="5443800" cy="118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63"/>
          <p:cNvSpPr/>
          <p:nvPr/>
        </p:nvSpPr>
        <p:spPr>
          <a:xfrm>
            <a:off x="1850100" y="3464401"/>
            <a:ext cx="5443800" cy="118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63"/>
          <p:cNvSpPr txBox="1"/>
          <p:nvPr/>
        </p:nvSpPr>
        <p:spPr>
          <a:xfrm>
            <a:off x="2234263" y="92850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63"/>
          <p:cNvSpPr txBox="1"/>
          <p:nvPr/>
        </p:nvSpPr>
        <p:spPr>
          <a:xfrm>
            <a:off x="2234263" y="21964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63"/>
          <p:cNvSpPr txBox="1"/>
          <p:nvPr/>
        </p:nvSpPr>
        <p:spPr>
          <a:xfrm>
            <a:off x="2234263" y="35881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/>
          <p:cNvSpPr txBox="1"/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Заголовок: главная мысль слайда </a:t>
            </a:r>
            <a:endParaRPr/>
          </a:p>
        </p:txBody>
      </p:sp>
      <p:sp>
        <p:nvSpPr>
          <p:cNvPr id="461" name="Google Shape;461;p64"/>
          <p:cNvSpPr/>
          <p:nvPr/>
        </p:nvSpPr>
        <p:spPr>
          <a:xfrm>
            <a:off x="6148300" y="1441775"/>
            <a:ext cx="2623800" cy="3105900"/>
          </a:xfrm>
          <a:prstGeom prst="roundRect">
            <a:avLst>
              <a:gd fmla="val 1397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64"/>
          <p:cNvSpPr txBox="1"/>
          <p:nvPr/>
        </p:nvSpPr>
        <p:spPr>
          <a:xfrm>
            <a:off x="6237700" y="1888650"/>
            <a:ext cx="24450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Место для кейса на полях: разместите здесь пример, иллюстрирующий вашу мысль, интересный факт, ссылку на дополнительный источник информации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и т.д.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63" name="Google Shape;463;p64"/>
          <p:cNvSpPr txBox="1"/>
          <p:nvPr/>
        </p:nvSpPr>
        <p:spPr>
          <a:xfrm>
            <a:off x="600400" y="1584975"/>
            <a:ext cx="50535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Какими средствами и как можно осуществлять сбор метрик с приложений и что такое трассировка.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4" name="Google Shape;46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000" y="3843575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5"/>
          <p:cNvSpPr txBox="1"/>
          <p:nvPr/>
        </p:nvSpPr>
        <p:spPr>
          <a:xfrm>
            <a:off x="567600" y="1572900"/>
            <a:ext cx="3906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Мысль, </a:t>
            </a:r>
            <a:endParaRPr b="1" sz="3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объединяющая пункты списка</a:t>
            </a:r>
            <a:endParaRPr b="1" sz="3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70" name="Google Shape;470;p65"/>
          <p:cNvGraphicFramePr/>
          <p:nvPr/>
        </p:nvGraphicFramePr>
        <p:xfrm>
          <a:off x="4917613" y="64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{C0682BEC-1846-4AA4-A0AE-220490031B1B}</a:tableStyleId>
              </a:tblPr>
              <a:tblGrid>
                <a:gridCol w="3795750"/>
              </a:tblGrid>
              <a:tr h="44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71" name="Google Shape;47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102470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245367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3882650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7766" y="2154250"/>
            <a:ext cx="1432496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pic>
        <p:nvPicPr>
          <p:cNvPr id="479" name="Google Shape;479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38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pic>
        <p:nvPicPr>
          <p:cNvPr id="480" name="Google Shape;480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8124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pic>
        <p:nvPicPr>
          <p:cNvPr id="481" name="Google Shape;481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8327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pic>
        <p:nvPicPr>
          <p:cNvPr id="482" name="Google Shape;482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4794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pic>
        <p:nvPicPr>
          <p:cNvPr id="483" name="Google Shape;483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04655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sp>
        <p:nvSpPr>
          <p:cNvPr id="484" name="Google Shape;484;p66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485" name="Google Shape;485;p66"/>
          <p:cNvSpPr txBox="1"/>
          <p:nvPr/>
        </p:nvSpPr>
        <p:spPr>
          <a:xfrm>
            <a:off x="66674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66"/>
          <p:cNvSpPr txBox="1"/>
          <p:nvPr/>
        </p:nvSpPr>
        <p:spPr>
          <a:xfrm>
            <a:off x="2051513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66"/>
          <p:cNvSpPr txBox="1"/>
          <p:nvPr/>
        </p:nvSpPr>
        <p:spPr>
          <a:xfrm>
            <a:off x="342604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66"/>
          <p:cNvSpPr txBox="1"/>
          <p:nvPr/>
        </p:nvSpPr>
        <p:spPr>
          <a:xfrm>
            <a:off x="479697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66"/>
          <p:cNvSpPr txBox="1"/>
          <p:nvPr/>
        </p:nvSpPr>
        <p:spPr>
          <a:xfrm>
            <a:off x="6175865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66"/>
          <p:cNvSpPr txBox="1"/>
          <p:nvPr/>
        </p:nvSpPr>
        <p:spPr>
          <a:xfrm>
            <a:off x="751832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1" name="Google Shape;49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3490" y="3229250"/>
            <a:ext cx="1489885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pic>
        <p:nvPicPr>
          <p:cNvPr id="492" name="Google Shape;492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675" y="3229251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pic>
        <p:nvPicPr>
          <p:cNvPr id="493" name="Google Shape;493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3522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pic>
        <p:nvPicPr>
          <p:cNvPr id="494" name="Google Shape;494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4166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pic>
        <p:nvPicPr>
          <p:cNvPr id="495" name="Google Shape;495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13507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pic>
        <p:nvPicPr>
          <p:cNvPr id="496" name="Google Shape;496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24569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sp>
        <p:nvSpPr>
          <p:cNvPr id="497" name="Google Shape;497;p66"/>
          <p:cNvSpPr txBox="1"/>
          <p:nvPr/>
        </p:nvSpPr>
        <p:spPr>
          <a:xfrm>
            <a:off x="57681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66"/>
          <p:cNvSpPr txBox="1"/>
          <p:nvPr/>
        </p:nvSpPr>
        <p:spPr>
          <a:xfrm>
            <a:off x="201706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66"/>
          <p:cNvSpPr txBox="1"/>
          <p:nvPr/>
        </p:nvSpPr>
        <p:spPr>
          <a:xfrm>
            <a:off x="344666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 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66"/>
          <p:cNvSpPr txBox="1"/>
          <p:nvPr/>
        </p:nvSpPr>
        <p:spPr>
          <a:xfrm>
            <a:off x="487250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66"/>
          <p:cNvSpPr txBox="1"/>
          <p:nvPr/>
        </p:nvSpPr>
        <p:spPr>
          <a:xfrm>
            <a:off x="630664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66"/>
          <p:cNvSpPr txBox="1"/>
          <p:nvPr/>
        </p:nvSpPr>
        <p:spPr>
          <a:xfrm>
            <a:off x="770288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pic>
        <p:nvPicPr>
          <p:cNvPr id="508" name="Google Shape;50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pic>
        <p:nvPicPr>
          <p:cNvPr id="509" name="Google Shape;509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pic>
        <p:nvPicPr>
          <p:cNvPr id="510" name="Google Shape;510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sp>
        <p:nvSpPr>
          <p:cNvPr id="511" name="Google Shape;511;p67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12" name="Google Shape;512;p67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67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67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67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16" name="Google Shape;516;p67"/>
          <p:cNvGraphicFramePr/>
          <p:nvPr/>
        </p:nvGraphicFramePr>
        <p:xfrm>
          <a:off x="92285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{C0682BEC-1846-4AA4-A0AE-220490031B1B}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26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pic>
        <p:nvPicPr>
          <p:cNvPr id="522" name="Google Shape;52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6014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pic>
        <p:nvPicPr>
          <p:cNvPr id="523" name="Google Shape;523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6940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pic>
        <p:nvPicPr>
          <p:cNvPr id="524" name="Google Shape;524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7926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pic>
        <p:nvPicPr>
          <p:cNvPr id="525" name="Google Shape;525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28892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sp>
        <p:nvSpPr>
          <p:cNvPr id="526" name="Google Shape;526;p68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27" name="Google Shape;527;p68"/>
          <p:cNvSpPr txBox="1"/>
          <p:nvPr/>
        </p:nvSpPr>
        <p:spPr>
          <a:xfrm>
            <a:off x="7867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68"/>
          <p:cNvSpPr txBox="1"/>
          <p:nvPr/>
        </p:nvSpPr>
        <p:spPr>
          <a:xfrm>
            <a:off x="2436168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68"/>
          <p:cNvSpPr txBox="1"/>
          <p:nvPr/>
        </p:nvSpPr>
        <p:spPr>
          <a:xfrm>
            <a:off x="4057095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68"/>
          <p:cNvSpPr txBox="1"/>
          <p:nvPr/>
        </p:nvSpPr>
        <p:spPr>
          <a:xfrm>
            <a:off x="57380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68"/>
          <p:cNvSpPr txBox="1"/>
          <p:nvPr/>
        </p:nvSpPr>
        <p:spPr>
          <a:xfrm>
            <a:off x="7419047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32" name="Google Shape;532;p68"/>
          <p:cNvGraphicFramePr/>
          <p:nvPr/>
        </p:nvGraphicFramePr>
        <p:xfrm>
          <a:off x="49660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{C0682BEC-1846-4AA4-A0AE-220490031B1B}</a:tableStyleId>
              </a:tblPr>
              <a:tblGrid>
                <a:gridCol w="1655100"/>
                <a:gridCol w="1655100"/>
                <a:gridCol w="1655100"/>
                <a:gridCol w="1655100"/>
                <a:gridCol w="1655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775" y="1462600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pic>
        <p:nvPicPr>
          <p:cNvPr id="538" name="Google Shape;53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775" y="217579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pic>
        <p:nvPicPr>
          <p:cNvPr id="539" name="Google Shape;53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9775" y="285206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pic>
        <p:nvPicPr>
          <p:cNvPr id="540" name="Google Shape;540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9775" y="3519916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pic>
        <p:nvPicPr>
          <p:cNvPr id="541" name="Google Shape;541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9775" y="4187778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999"/>
              </a:srgbClr>
            </a:outerShdw>
          </a:effectLst>
        </p:spPr>
      </p:pic>
      <p:sp>
        <p:nvSpPr>
          <p:cNvPr id="542" name="Google Shape;542;p69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43" name="Google Shape;543;p69"/>
          <p:cNvSpPr txBox="1"/>
          <p:nvPr/>
        </p:nvSpPr>
        <p:spPr>
          <a:xfrm>
            <a:off x="1508200" y="1552261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69"/>
          <p:cNvSpPr txBox="1"/>
          <p:nvPr/>
        </p:nvSpPr>
        <p:spPr>
          <a:xfrm>
            <a:off x="1508200" y="226545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69"/>
          <p:cNvSpPr txBox="1"/>
          <p:nvPr/>
        </p:nvSpPr>
        <p:spPr>
          <a:xfrm>
            <a:off x="1508200" y="294172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69"/>
          <p:cNvSpPr txBox="1"/>
          <p:nvPr/>
        </p:nvSpPr>
        <p:spPr>
          <a:xfrm>
            <a:off x="1508200" y="3609577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69"/>
          <p:cNvSpPr txBox="1"/>
          <p:nvPr/>
        </p:nvSpPr>
        <p:spPr>
          <a:xfrm>
            <a:off x="1508200" y="4277439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48" name="Google Shape;548;p69"/>
          <p:cNvGraphicFramePr/>
          <p:nvPr/>
        </p:nvGraphicFramePr>
        <p:xfrm>
          <a:off x="2781050" y="143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{C0682BEC-1846-4AA4-A0AE-220490031B1B}</a:tableStyleId>
              </a:tblPr>
              <a:tblGrid>
                <a:gridCol w="5494225"/>
              </a:tblGrid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9166" y="1028450"/>
            <a:ext cx="5861734" cy="42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70"/>
          <p:cNvSpPr/>
          <p:nvPr/>
        </p:nvSpPr>
        <p:spPr>
          <a:xfrm>
            <a:off x="4701625" y="17177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70"/>
          <p:cNvSpPr/>
          <p:nvPr/>
        </p:nvSpPr>
        <p:spPr>
          <a:xfrm>
            <a:off x="5652425" y="284277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70"/>
          <p:cNvSpPr/>
          <p:nvPr/>
        </p:nvSpPr>
        <p:spPr>
          <a:xfrm>
            <a:off x="5197600" y="396785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70"/>
          <p:cNvSpPr/>
          <p:nvPr/>
        </p:nvSpPr>
        <p:spPr>
          <a:xfrm>
            <a:off x="3180175" y="428725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70"/>
          <p:cNvSpPr/>
          <p:nvPr/>
        </p:nvSpPr>
        <p:spPr>
          <a:xfrm>
            <a:off x="1617075" y="352186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70"/>
          <p:cNvSpPr/>
          <p:nvPr/>
        </p:nvSpPr>
        <p:spPr>
          <a:xfrm>
            <a:off x="1380700" y="25747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70"/>
          <p:cNvSpPr txBox="1"/>
          <p:nvPr/>
        </p:nvSpPr>
        <p:spPr>
          <a:xfrm>
            <a:off x="592975" y="381950"/>
            <a:ext cx="8550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Определения, которые нужно сгруппировать</a:t>
            </a:r>
            <a:endParaRPr/>
          </a:p>
        </p:txBody>
      </p:sp>
      <p:sp>
        <p:nvSpPr>
          <p:cNvPr id="561" name="Google Shape;561;p70"/>
          <p:cNvSpPr txBox="1"/>
          <p:nvPr/>
        </p:nvSpPr>
        <p:spPr>
          <a:xfrm>
            <a:off x="3457909" y="2796575"/>
            <a:ext cx="173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Центральное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70"/>
          <p:cNvSpPr/>
          <p:nvPr/>
        </p:nvSpPr>
        <p:spPr>
          <a:xfrm>
            <a:off x="2537225" y="16275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70"/>
          <p:cNvSpPr txBox="1"/>
          <p:nvPr/>
        </p:nvSpPr>
        <p:spPr>
          <a:xfrm>
            <a:off x="1499775" y="2690200"/>
            <a:ext cx="1395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70"/>
          <p:cNvSpPr txBox="1"/>
          <p:nvPr/>
        </p:nvSpPr>
        <p:spPr>
          <a:xfrm>
            <a:off x="2609976" y="1762525"/>
            <a:ext cx="1476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p70"/>
          <p:cNvSpPr txBox="1"/>
          <p:nvPr/>
        </p:nvSpPr>
        <p:spPr>
          <a:xfrm>
            <a:off x="4802581" y="183320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70"/>
          <p:cNvSpPr txBox="1"/>
          <p:nvPr/>
        </p:nvSpPr>
        <p:spPr>
          <a:xfrm>
            <a:off x="5760402" y="2958263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" name="Google Shape;567;p70"/>
          <p:cNvSpPr txBox="1"/>
          <p:nvPr/>
        </p:nvSpPr>
        <p:spPr>
          <a:xfrm>
            <a:off x="5301135" y="408335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70"/>
          <p:cNvSpPr txBox="1"/>
          <p:nvPr/>
        </p:nvSpPr>
        <p:spPr>
          <a:xfrm>
            <a:off x="3295713" y="4402745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70"/>
          <p:cNvSpPr txBox="1"/>
          <p:nvPr/>
        </p:nvSpPr>
        <p:spPr>
          <a:xfrm>
            <a:off x="1718200" y="3617868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1"/>
          <p:cNvSpPr txBox="1"/>
          <p:nvPr>
            <p:ph type="title"/>
          </p:nvPr>
        </p:nvSpPr>
        <p:spPr>
          <a:xfrm>
            <a:off x="623400" y="42054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1</a:t>
            </a:r>
            <a:endParaRPr/>
          </a:p>
        </p:txBody>
      </p:sp>
      <p:sp>
        <p:nvSpPr>
          <p:cNvPr id="575" name="Google Shape;575;p71"/>
          <p:cNvSpPr txBox="1"/>
          <p:nvPr>
            <p:ph idx="1" type="subTitle"/>
          </p:nvPr>
        </p:nvSpPr>
        <p:spPr>
          <a:xfrm>
            <a:off x="754725" y="1516450"/>
            <a:ext cx="8029200" cy="34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71"/>
          <p:cNvSpPr/>
          <p:nvPr/>
        </p:nvSpPr>
        <p:spPr>
          <a:xfrm>
            <a:off x="2382100" y="2921900"/>
            <a:ext cx="1524900" cy="189300"/>
          </a:xfrm>
          <a:prstGeom prst="rect">
            <a:avLst/>
          </a:prstGeom>
          <a:noFill/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71"/>
          <p:cNvSpPr/>
          <p:nvPr/>
        </p:nvSpPr>
        <p:spPr>
          <a:xfrm>
            <a:off x="5605325" y="2159450"/>
            <a:ext cx="26637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 * 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int*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600"/>
          </a:p>
        </p:txBody>
      </p:sp>
      <p:cxnSp>
        <p:nvCxnSpPr>
          <p:cNvPr id="578" name="Google Shape;578;p71"/>
          <p:cNvCxnSpPr>
            <a:stCxn id="577" idx="1"/>
            <a:endCxn id="576" idx="3"/>
          </p:cNvCxnSpPr>
          <p:nvPr/>
        </p:nvCxnSpPr>
        <p:spPr>
          <a:xfrm flipH="1">
            <a:off x="3907025" y="2386250"/>
            <a:ext cx="1698300" cy="6303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013D85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2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2</a:t>
            </a:r>
            <a:endParaRPr/>
          </a:p>
        </p:txBody>
      </p:sp>
      <p:sp>
        <p:nvSpPr>
          <p:cNvPr id="584" name="Google Shape;584;p72"/>
          <p:cNvSpPr txBox="1"/>
          <p:nvPr>
            <p:ph idx="1" type="subTitle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3</a:t>
            </a:r>
            <a:endParaRPr/>
          </a:p>
        </p:txBody>
      </p:sp>
      <p:sp>
        <p:nvSpPr>
          <p:cNvPr id="590" name="Google Shape;590;p73"/>
          <p:cNvSpPr txBox="1"/>
          <p:nvPr>
            <p:ph idx="1" type="subTitle"/>
          </p:nvPr>
        </p:nvSpPr>
        <p:spPr>
          <a:xfrm>
            <a:off x="754725" y="1516450"/>
            <a:ext cx="8181900" cy="32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int **a;  // указатель на указатель на строку элементов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int i, j, n, 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system("chcp 1251");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system("cls");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строк: 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столбцов: 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Выделение памяти под указатели на строки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(int**)malloc(n * sizeof(int*));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Ввод элементов массива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for (i = 0; i&lt;n; i++)  // цикл по строкам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// Выделение памяти под хранение строк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(int*)malloc(m * sizeof(int));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for (j = 0; j&lt;m; j++)  // цикл по столбцам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printf("a[%d][%d] = ", i, j);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scanf("%d", &amp;a[i][j]);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}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и текстом </a:t>
            </a:r>
            <a:endParaRPr/>
          </a:p>
        </p:txBody>
      </p:sp>
      <p:sp>
        <p:nvSpPr>
          <p:cNvPr id="596" name="Google Shape;596;p7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</a:t>
            </a:r>
            <a:r>
              <a:rPr lang="ru">
                <a:solidFill>
                  <a:srgbClr val="0645AD"/>
                </a:solidFill>
              </a:rPr>
              <a:t> 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строку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/>
          </a:p>
        </p:txBody>
      </p:sp>
      <p:sp>
        <p:nvSpPr>
          <p:cNvPr id="597" name="Google Shape;597;p74"/>
          <p:cNvSpPr txBox="1"/>
          <p:nvPr>
            <p:ph idx="1" type="subTitle"/>
          </p:nvPr>
        </p:nvSpPr>
        <p:spPr>
          <a:xfrm>
            <a:off x="530000" y="1152250"/>
            <a:ext cx="7862400" cy="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1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2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3</a:t>
            </a:r>
            <a:endParaRPr sz="15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5"/>
          <p:cNvSpPr txBox="1"/>
          <p:nvPr>
            <p:ph type="title"/>
          </p:nvPr>
        </p:nvSpPr>
        <p:spPr>
          <a:xfrm>
            <a:off x="654850" y="40114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3" name="Google Shape;603;p75"/>
          <p:cNvGraphicFramePr/>
          <p:nvPr/>
        </p:nvGraphicFramePr>
        <p:xfrm>
          <a:off x="654850" y="136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{C0682BEC-1846-4AA4-A0AE-220490031B1B}</a:tableStyleId>
              </a:tblPr>
              <a:tblGrid>
                <a:gridCol w="2269775"/>
                <a:gridCol w="2636825"/>
                <a:gridCol w="2927675"/>
              </a:tblGrid>
              <a:tr h="7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6"/>
          <p:cNvSpPr txBox="1"/>
          <p:nvPr>
            <p:ph type="title"/>
          </p:nvPr>
        </p:nvSpPr>
        <p:spPr>
          <a:xfrm>
            <a:off x="608700" y="4294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9" name="Google Shape;609;p76"/>
          <p:cNvGraphicFramePr/>
          <p:nvPr/>
        </p:nvGraphicFramePr>
        <p:xfrm>
          <a:off x="608700" y="137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{C0682BEC-1846-4AA4-A0AE-220490031B1B}</a:tableStyleId>
              </a:tblPr>
              <a:tblGrid>
                <a:gridCol w="395875"/>
                <a:gridCol w="2403400"/>
                <a:gridCol w="2684725"/>
                <a:gridCol w="2477150"/>
              </a:tblGrid>
              <a:tr h="7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2"/>
            <a:ext cx="9144003" cy="5103318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7"/>
          <p:cNvSpPr txBox="1"/>
          <p:nvPr/>
        </p:nvSpPr>
        <p:spPr>
          <a:xfrm>
            <a:off x="720000" y="696425"/>
            <a:ext cx="71307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Единственно верного 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решения не существует. 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Хотя существует 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много неверных.</a:t>
            </a:r>
            <a:endParaRPr b="1" sz="5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t/>
            </a:r>
            <a:endParaRPr sz="25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6" name="Google Shape;616;p77"/>
          <p:cNvSpPr txBox="1"/>
          <p:nvPr/>
        </p:nvSpPr>
        <p:spPr>
          <a:xfrm>
            <a:off x="5527975" y="3851825"/>
            <a:ext cx="341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Дэвид Акин, NASA</a:t>
            </a:r>
            <a:endParaRPr sz="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